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d8a9e7d52481e" /><Relationship Type="http://schemas.openxmlformats.org/officeDocument/2006/relationships/extended-properties" Target="/docProps/app.xml" Id="Rd492b068d7344424" /><Relationship Type="http://schemas.openxmlformats.org/officeDocument/2006/relationships/officeDocument" Target="/ppt/presentation.xml" Id="R963a416c99d448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6eb3afa5944ff0"/>
  </p:sldMasterIdLst>
  <p:notesMasterIdLst>
    <p:notesMasterId xmlns:r="http://schemas.openxmlformats.org/officeDocument/2006/relationships" r:id="Rb5235eea5a104301"/>
  </p:notesMasterIdLst>
  <p:sldIdLst>
    <p:sldId xmlns:r="http://schemas.openxmlformats.org/officeDocument/2006/relationships" id="256" r:id="R845915e248cf46e6"/>
    <p:sldId xmlns:r="http://schemas.openxmlformats.org/officeDocument/2006/relationships" id="257" r:id="R1658279a3ba340f1"/>
    <p:sldId xmlns:r="http://schemas.openxmlformats.org/officeDocument/2006/relationships" id="258" r:id="R114c78dc8af94a19"/>
    <p:sldId xmlns:r="http://schemas.openxmlformats.org/officeDocument/2006/relationships" id="259" r:id="R351d3b7095ee4b65"/>
    <p:sldId xmlns:r="http://schemas.openxmlformats.org/officeDocument/2006/relationships" id="260" r:id="R145db2332e96400a"/>
    <p:sldId xmlns:r="http://schemas.openxmlformats.org/officeDocument/2006/relationships" id="261" r:id="Re4139468e8144f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2ea7f3f198486e" /><Relationship Type="http://schemas.openxmlformats.org/officeDocument/2006/relationships/slideMaster" Target="/ppt/slideMasters/slideMaster1.xml" Id="Rd96eb3afa5944ff0" /><Relationship Type="http://schemas.openxmlformats.org/officeDocument/2006/relationships/notesMaster" Target="/ppt/notesMasters/notesMaster1.xml" Id="Rb5235eea5a104301" /><Relationship Type="http://schemas.openxmlformats.org/officeDocument/2006/relationships/presProps" Target="/ppt/presProps.xml" Id="Rf468629d171f4072" /><Relationship Type="http://schemas.openxmlformats.org/officeDocument/2006/relationships/tableStyles" Target="/ppt/tableStyles.xml" Id="R77d6bf196d134ceb" /><Relationship Type="http://schemas.openxmlformats.org/officeDocument/2006/relationships/slide" Target="/ppt/slides/slide1.xml" Id="R845915e248cf46e6" /><Relationship Type="http://schemas.openxmlformats.org/officeDocument/2006/relationships/slide" Target="/ppt/slides/slide2.xml" Id="R1658279a3ba340f1" /><Relationship Type="http://schemas.openxmlformats.org/officeDocument/2006/relationships/slide" Target="/ppt/slides/slide3.xml" Id="R114c78dc8af94a19" /><Relationship Type="http://schemas.openxmlformats.org/officeDocument/2006/relationships/slide" Target="/ppt/slides/slide4.xml" Id="R351d3b7095ee4b65" /><Relationship Type="http://schemas.openxmlformats.org/officeDocument/2006/relationships/slide" Target="/ppt/slides/slide5.xml" Id="R145db2332e96400a" /><Relationship Type="http://schemas.openxmlformats.org/officeDocument/2006/relationships/slide" Target="/ppt/slides/slide6.xml" Id="Re4139468e8144f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a1dcea4ee441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264abeb8fd41b9" /><Relationship Type="http://schemas.openxmlformats.org/officeDocument/2006/relationships/notesMaster" Target="/ppt/notesMasters/notesMaster1.xml" Id="R3f918b2f640a4c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0582d4722d4ae6" /><Relationship Type="http://schemas.openxmlformats.org/officeDocument/2006/relationships/notesMaster" Target="/ppt/notesMasters/notesMaster1.xml" Id="Rbd802e04c7bc42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922b01acc8410f" /><Relationship Type="http://schemas.openxmlformats.org/officeDocument/2006/relationships/notesMaster" Target="/ppt/notesMasters/notesMaster1.xml" Id="Rb9184927a0fc4d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44568c94d4762" /><Relationship Type="http://schemas.openxmlformats.org/officeDocument/2006/relationships/notesMaster" Target="/ppt/notesMasters/notesMaster1.xml" Id="R3390dd7f6e0b4e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a29165b3b84429" /><Relationship Type="http://schemas.openxmlformats.org/officeDocument/2006/relationships/notesMaster" Target="/ppt/notesMasters/notesMaster1.xml" Id="Ref5216ac7a4942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587978485d4074" /><Relationship Type="http://schemas.openxmlformats.org/officeDocument/2006/relationships/notesMaster" Target="/ppt/notesMasters/notesMaster1.xml" Id="R5eda7adf89ba45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讲述建议：先说明上次汇报时控制依赖真值，现在前视 RGB-D、KF 与短时规划已经形成仿真视觉闭环。算法名称是已有方法，项目贡献是系统集成、时序处理、执行修复及验证。当前仍使用原控制器，MPC 尚未实现。来源：/home/qin/下载/2026-10-06-uav-usv-project-introduction.md；/home/qin/data/uav_usv_mpc/README.md；docs/current/architecture.md；docs/current/baseline.md；src/uav_usv_bringup/config/baseline.yaml。当前源码基点 d823aac，冻结实验基点 85e13461。上次汇报来源：用户提供的 8.29.pptx。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讲述建议：沿表格自上而下介绍感知、估计、预测、规划和控制。主 predictor 和 tracker 均从 /tracking/target_state 使用 KF 状态，PX4 原始导航 sample epoch 用于状态反馈。真值允许评价终态结束任务或暂停仿真，但不参与在线目标几何反馈。前视为主感知，下视用于诊断，未实现双相机融合。来源：/home/qin/下载/2026-10-06-uav-usv-project-introduction.md；/home/qin/data/uav_usv_mpc/README.md；docs/current/architecture.md；docs/current/baseline.md；src/uav_usv_bringup/config/baseline.yaml。当前源码基点 d823aac，冻结实验基点 85e13461。上次汇报来源：用户提供的 8.29.pptx。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本页预留给用户补充视频。建议使用当前冻结版本的任务视频，包含起飞、视觉锁定 FOLLOW、Y 启动截获、末端进近和成功暂停。可在视频旁标注目标 8 字运动 4 m/s、升沉幅值 0.05 m，避免沿用上次汇报的 5 m/s 与 0.15 m。当前成功后的暂停不代表物理接触后制动。来源：/home/qin/下载/2026-10-06-uav-usv-project-introduction.md；/home/qin/data/uav_usv_mpc/README.md；docs/current/architecture.md；docs/current/baseline.md；src/uav_usv_bringup/config/baseline.yaml。当前源码基点 d823aac，冻结实验基点 85e13461。上次汇报来源：用户提供的 8.29.pptx。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本页预留给用户补充结果。数据应来自 data/baselines/20261006_pre_mpc/，一轮修复前失败和三轮同场景重复成功。建议填入 Y 到结果事件时间、最小三维距离、捕获前恢复次数，选定一致计时口径。捕获判据为三维距离不大于 0.50 m。成功数据不等价于所有场景成功率，约 2.8 m/s 相对速度不等价于低速对接。感知与预测误差宜分阶段、按一致时刻统计。来源：/home/qin/下载/2026-10-06-uav-usv-project-introduction.md；/home/qin/data/uav_usv_mpc/README.md；docs/current/architecture.md；docs/current/baseline.md；src/uav_usv_bringup/config/baseline.yaml。当前源码基点 d823aac，冻结实验基点 85e13461。上次汇报来源：用户提供的 8.29.pptx。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讲述建议：这些是计划中的研究内容，MPC 尚未实现。现有架构与反馈控制是对照。先定义状态、输入、周期、约束和失败行为再选求解器，不预先宣称效果提升。可见性通过图像边界余量、连续失锁和分阶段有效率评价，不能把有效观测率直接称为视场可见概率。跟随后距配置为 5 m、飞行高度约 5 m，并非实际始终保持 5 m 三维距离。来源：/home/qin/下载/2026-10-06-uav-usv-project-introduction.md；/home/qin/data/uav_usv_mpc/README.md；docs/current/architecture.md；docs/current/baseline.md；src/uav_usv_bringup/config/baseline.yaml。当前源码基点 d823aac，冻结实验基点 85e13461。上次汇报来源：用户提供的 8.29.pptx。另见 docs/current/mpc_scope.md。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讲述建议：依次明确模型、离线验证、影子运行和在线对照，每次只改一个主要环节。使用 controllers/ 独立模块和显式配置选择，保留 baseline 控制器与单一 PX4 指令发布者。在线接入应在独立任务中开展，真值仅评价。捕获半径 0.50 m、原有时效和安全约束不可通过放宽掩盖问题。求解器与执行周期仍待定义和实测。工程已完成数据归档与保守冗余清理，本轮 PPT 不修改控制源码。来源：/home/qin/下载/2026-10-06-uav-usv-project-introduction.md；/home/qin/data/uav_usv_mpc/README.md；docs/current/architecture.md；docs/current/baseline.md；src/uav_usv_bringup/config/baseline.yaml。当前源码基点 d823aac，冻结实验基点 85e13461。上次汇报来源：用户提供的 8.29.pptx。另见 docs/current/mpc_scope.md。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96731223f47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55b4999104047" /><Relationship Type="http://schemas.openxmlformats.org/officeDocument/2006/relationships/slideLayout" Target="/ppt/slideLayouts/slideLayout1.xml" Id="Radf8a7697e914f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f8a7697e914f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082c8d1d44e4f" /><Relationship Type="http://schemas.openxmlformats.org/officeDocument/2006/relationships/notesSlide" Target="/ppt/notesSlides/notesSlide1.xml" Id="R55e55bfee7544d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16ae872d44451" /><Relationship Type="http://schemas.openxmlformats.org/officeDocument/2006/relationships/notesSlide" Target="/ppt/notesSlides/notesSlide2.xml" Id="R7ad14d82583e4a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4e1652f3d4c68" /><Relationship Type="http://schemas.openxmlformats.org/officeDocument/2006/relationships/notesSlide" Target="/ppt/notesSlides/notesSlide3.xml" Id="R6d020ccda0bc47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ddaf3471b4f93" /><Relationship Type="http://schemas.openxmlformats.org/officeDocument/2006/relationships/notesSlide" Target="/ppt/notesSlides/notesSlide4.xml" Id="R39a2c4f1d38b4c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2777c75c14f42" /><Relationship Type="http://schemas.openxmlformats.org/officeDocument/2006/relationships/notesSlide" Target="/ppt/notesSlides/notesSlide5.xml" Id="R6a5feab0ab3b4e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0b2d0e3e047a0" /><Relationship Type="http://schemas.openxmlformats.org/officeDocument/2006/relationships/notesSlide" Target="/ppt/notesSlides/notesSlide6.xml" Id="R83c237e7b5c848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UAV 对 USV 跟随与截获：近期进展">
            <a:extLst xmlns:a="http://schemas.openxmlformats.org/drawingml/2006/main">
              <a:ext uri="{FF2B5EF4-FFF2-40B4-BE49-F238E27FC236}">
                <a16:creationId xmlns:a16="http://schemas.microsoft.com/office/drawing/2014/main" id="{B68ED50B-8E32-41DE-A49C-F14E9A0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UAV 对 USV 跟随与截获：近期进展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2D102EB2-8AF7-42F8-AFC6-2DE7FF35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3" name="当前已形成基于视觉估计的仿真闭环">
            <a:extLst xmlns:a="http://schemas.openxmlformats.org/drawingml/2006/main">
              <a:ext uri="{FF2B5EF4-FFF2-40B4-BE49-F238E27FC236}">
                <a16:creationId xmlns:a16="http://schemas.microsoft.com/office/drawing/2014/main" id="{C51E2C71-DF7C-4364-BE85-B191E883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14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当前已形成基于视觉估计的仿真闭环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57200" y="1866900"/>
          <a:ext xmlns:a="http://schemas.openxmlformats.org/drawingml/2006/main" cx="112776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810000"/>
                <a:gridCol w="52768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工作内容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上次汇报状态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当前进展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在线目标输入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使用 USV 仿真真值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前视 RGB-D 定位与 KF 状态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目标预测与轨迹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转弯预测、滚动制导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BCTRA 预测与 Fast MINCO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控制与任务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起飞、跟随、截获判定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速度跟踪、恢复及末端修复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实验与开发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展示成功与失败案例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冻结对照数据，建立 MPC 工作区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已验证：带红球标记目标的仿真感知与控制接口">
            <a:extLst xmlns:a="http://schemas.openxmlformats.org/drawingml/2006/main">
              <a:ext uri="{FF2B5EF4-FFF2-40B4-BE49-F238E27FC236}">
                <a16:creationId xmlns:a16="http://schemas.microsoft.com/office/drawing/2014/main" id="{1709CCA4-BBFB-4EF1-9262-2060123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已验证：带红球标记目标的仿真感知与控制接口</a:t>
            </a:r>
          </a:p>
        </p:txBody>
      </p:sp>
      <p:sp>
        <p:nvSpPr>
          <p:cNvPr id="6" name="近期修复反馈时刻比较与末端水平执行，保留原有安全与时效约束">
            <a:extLst xmlns:a="http://schemas.openxmlformats.org/drawingml/2006/main">
              <a:ext uri="{FF2B5EF4-FFF2-40B4-BE49-F238E27FC236}">
                <a16:creationId xmlns:a16="http://schemas.microsoft.com/office/drawing/2014/main" id="{1BD3DEFE-3141-4D5E-90DB-7E949E7F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近期修复反馈时刻比较与末端水平执行，保留原有安全与时效约束</a:t>
            </a:r>
          </a:p>
        </p:txBody>
      </p:sp>
    </p:spTree>
    <p:extLst>
      <p:ext uri="{BB962C8B-B14F-4D97-AF65-F5344CB8AC3E}">
        <p14:creationId xmlns:p14="http://schemas.microsoft.com/office/powerpoint/2010/main" val="1588487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当前系统架构与控制边界">
            <a:extLst xmlns:a="http://schemas.openxmlformats.org/drawingml/2006/main">
              <a:ext uri="{FF2B5EF4-FFF2-40B4-BE49-F238E27FC236}">
                <a16:creationId xmlns:a16="http://schemas.microsoft.com/office/drawing/2014/main" id="{49BDD009-EF83-4125-BA7C-B176FEBF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当前系统架构与控制边界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A395AD6-6A71-4DC5-98DC-A0A8E464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57200" y="1190625"/>
          <a:ext xmlns:a="http://schemas.openxmlformats.org/drawingml/2006/main" cx="112776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429125"/>
                <a:gridCol w="437197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环节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当前实现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主要配置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视觉观测与状态估计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前视 RGB-D 定位，恒速度 KF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定位 10 Hz，KF 发布 20 Hz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机动目标预测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BCTRA，输入为 KF 目标状态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预测窗口 4.0 s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短时截获规划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可达性分析与 Fast MINCO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最长 1.5 s，常规 / 末端 5 / 10 Hz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执行与任务管理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 tracker 速度控制，跟随与恢复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20 Hz，PX4 Offboard 唯一发布者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在线控制：视觉 / KF 目标状态与 PX4 导航状态">
            <a:extLst xmlns:a="http://schemas.openxmlformats.org/drawingml/2006/main">
              <a:ext uri="{FF2B5EF4-FFF2-40B4-BE49-F238E27FC236}">
                <a16:creationId xmlns:a16="http://schemas.microsoft.com/office/drawing/2014/main" id="{5FBFAEE9-11D6-4B3A-B688-4999C029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在线控制：视觉 / KF 目标状态与 PX4 导航状态</a:t>
            </a:r>
          </a:p>
        </p:txBody>
      </p:sp>
      <p:sp>
        <p:nvSpPr>
          <p:cNvPr id="5" name="仿真真值：仅用于评价、显式诊断和离线对比">
            <a:extLst xmlns:a="http://schemas.openxmlformats.org/drawingml/2006/main">
              <a:ext uri="{FF2B5EF4-FFF2-40B4-BE49-F238E27FC236}">
                <a16:creationId xmlns:a16="http://schemas.microsoft.com/office/drawing/2014/main" id="{F49FC27D-496D-4D63-AE46-3A5976BD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017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仿真真值：仅用于评价、显式诊断和离线对比</a:t>
            </a:r>
          </a:p>
        </p:txBody>
      </p:sp>
      <p:sp>
        <p:nvSpPr>
          <p:cNvPr id="6" name="保留采集戳、原始导航 sample 时刻、因果等待与 125">
            <a:extLst xmlns:a="http://schemas.openxmlformats.org/drawingml/2006/main">
              <a:ext uri="{FF2B5EF4-FFF2-40B4-BE49-F238E27FC236}">
                <a16:creationId xmlns:a16="http://schemas.microsoft.com/office/drawing/2014/main" id="{1EE74795-5829-47A4-993B-5FF99939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保留采集戳、原始导航 sample 时刻、因果等待与 125 ms 新鲜度限制</a:t>
            </a:r>
          </a:p>
        </p:txBody>
      </p:sp>
    </p:spTree>
    <p:extLst>
      <p:ext uri="{BB962C8B-B14F-4D97-AF65-F5344CB8AC3E}">
        <p14:creationId xmlns:p14="http://schemas.microsoft.com/office/powerpoint/2010/main" val="1953426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仿真任务过程与视频展示">
            <a:extLst xmlns:a="http://schemas.openxmlformats.org/drawingml/2006/main">
              <a:ext uri="{FF2B5EF4-FFF2-40B4-BE49-F238E27FC236}">
                <a16:creationId xmlns:a16="http://schemas.microsoft.com/office/drawing/2014/main" id="{8849E816-652E-49DE-87E6-2945DF0A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仿真任务过程与视频展示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50823B73-9FBA-4A12-ACB9-5D06E561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3" name="仿真视频（待补充）">
            <a:extLst xmlns:a="http://schemas.openxmlformats.org/drawingml/2006/main">
              <a:ext uri="{FF2B5EF4-FFF2-40B4-BE49-F238E27FC236}">
                <a16:creationId xmlns:a16="http://schemas.microsoft.com/office/drawing/2014/main" id="{4624A426-C225-48ED-BC20-A9225E91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861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9AA9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9AA9BB"/>
                </a:solidFill>
                <a:latin typeface="Noto Sans CJK SC"/>
                <a:ea typeface="Noto Sans CJK SC"/>
                <a:cs typeface="Noto Sans CJK SC"/>
              </a:rPr>
              <a:t>仿真视频（待补充）</a:t>
            </a:r>
          </a:p>
        </p:txBody>
      </p:sp>
    </p:spTree>
    <p:extLst>
      <p:ext uri="{BB962C8B-B14F-4D97-AF65-F5344CB8AC3E}">
        <p14:creationId xmlns:p14="http://schemas.microsoft.com/office/powerpoint/2010/main" val="305652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实验结果与对比分析">
            <a:extLst xmlns:a="http://schemas.openxmlformats.org/drawingml/2006/main">
              <a:ext uri="{FF2B5EF4-FFF2-40B4-BE49-F238E27FC236}">
                <a16:creationId xmlns:a16="http://schemas.microsoft.com/office/drawing/2014/main" id="{34273964-37BF-4AD7-9148-721EDFAE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实验结果与对比分析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A6129BE5-C198-46EB-8642-4D1A3019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3" name="结果图表与分析（待补充）">
            <a:extLst xmlns:a="http://schemas.openxmlformats.org/drawingml/2006/main">
              <a:ext uri="{FF2B5EF4-FFF2-40B4-BE49-F238E27FC236}">
                <a16:creationId xmlns:a16="http://schemas.microsoft.com/office/drawing/2014/main" id="{9F4A5EA9-FE5C-4EC6-8CE0-FD6EA3B3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9AA9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9AA9BB"/>
                </a:solidFill>
                <a:latin typeface="Noto Sans CJK SC"/>
                <a:ea typeface="Noto Sans CJK SC"/>
                <a:cs typeface="Noto Sans CJK SC"/>
              </a:rPr>
              <a:t>结果图表与分析（待补充）</a:t>
            </a:r>
          </a:p>
        </p:txBody>
      </p:sp>
    </p:spTree>
    <p:extLst>
      <p:ext uri="{BB962C8B-B14F-4D97-AF65-F5344CB8AC3E}">
        <p14:creationId xmlns:p14="http://schemas.microsoft.com/office/powerpoint/2010/main" val="1558657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后续 MPC 研究目标">
            <a:extLst xmlns:a="http://schemas.openxmlformats.org/drawingml/2006/main">
              <a:ext uri="{FF2B5EF4-FFF2-40B4-BE49-F238E27FC236}">
                <a16:creationId xmlns:a16="http://schemas.microsoft.com/office/drawing/2014/main" id="{C0728E59-ACC4-40EB-9415-87768B73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后续 MPC 研究目标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7E14BB37-1195-428D-9E9C-87CE796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3" name="研究重点：目标可见性与跟随 / 截获控制的联合考虑">
            <a:extLst xmlns:a="http://schemas.openxmlformats.org/drawingml/2006/main">
              <a:ext uri="{FF2B5EF4-FFF2-40B4-BE49-F238E27FC236}">
                <a16:creationId xmlns:a16="http://schemas.microsoft.com/office/drawing/2014/main" id="{BFB93571-856E-45A4-B3A5-BBCACB9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11277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研究重点：目标可见性与跟随 / 截获控制的联合考虑</a:t>
            </a:r>
          </a:p>
        </p:txBody>
      </p:sp>
      <p:sp>
        <p:nvSpPr>
          <p:cNvPr id="4" name="目标可见性">
            <a:extLst xmlns:a="http://schemas.openxmlformats.org/drawingml/2006/main">
              <a:ext uri="{FF2B5EF4-FFF2-40B4-BE49-F238E27FC236}">
                <a16:creationId xmlns:a16="http://schemas.microsoft.com/office/drawing/2014/main" id="{AF7D1B5F-3D2B-438E-B143-E7F89D1A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目标可见性</a:t>
            </a:r>
          </a:p>
        </p:txBody>
      </p:sp>
      <p:sp>
        <p:nvSpPr>
          <p:cNvPr id="5" name="结合相机视场与目标预测，减少图像边缘接近和连续失锁">
            <a:extLst xmlns:a="http://schemas.openxmlformats.org/drawingml/2006/main">
              <a:ext uri="{FF2B5EF4-FFF2-40B4-BE49-F238E27FC236}">
                <a16:creationId xmlns:a16="http://schemas.microsoft.com/office/drawing/2014/main" id="{5F85246F-4F30-4527-8B12-D668218C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28825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结合相机视场与目标预测，减少图像边缘接近和连续失锁</a:t>
            </a:r>
          </a:p>
        </p:txBody>
      </p:sp>
      <p:sp>
        <p:nvSpPr>
          <p:cNvPr id="6" name="跟随与截获性能">
            <a:extLst xmlns:a="http://schemas.openxmlformats.org/drawingml/2006/main">
              <a:ext uri="{FF2B5EF4-FFF2-40B4-BE49-F238E27FC236}">
                <a16:creationId xmlns:a16="http://schemas.microsoft.com/office/drawing/2014/main" id="{194247B3-2A09-43DC-B56B-7097B324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跟随与截获性能</a:t>
            </a:r>
          </a:p>
        </p:txBody>
      </p:sp>
      <p:sp>
        <p:nvSpPr>
          <p:cNvPr id="7" name="按任务阶段设置相对位置与速度目标，平衡闭合速度和跟随误差">
            <a:extLst xmlns:a="http://schemas.openxmlformats.org/drawingml/2006/main">
              <a:ext uri="{FF2B5EF4-FFF2-40B4-BE49-F238E27FC236}">
                <a16:creationId xmlns:a16="http://schemas.microsoft.com/office/drawing/2014/main" id="{F4068536-71EB-4ABA-B33C-6B677487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按任务阶段设置相对位置与速度目标，平衡闭合速度和跟随误差</a:t>
            </a:r>
          </a:p>
        </p:txBody>
      </p:sp>
      <p:sp>
        <p:nvSpPr>
          <p:cNvPr id="8" name="约束与计算可行性">
            <a:extLst xmlns:a="http://schemas.openxmlformats.org/drawingml/2006/main">
              <a:ext uri="{FF2B5EF4-FFF2-40B4-BE49-F238E27FC236}">
                <a16:creationId xmlns:a16="http://schemas.microsoft.com/office/drawing/2014/main" id="{0D7CA9D9-6326-414D-851A-317E64C0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约束与计算可行性</a:t>
            </a:r>
          </a:p>
        </p:txBody>
      </p:sp>
      <p:sp>
        <p:nvSpPr>
          <p:cNvPr id="9" name="纳入速度、加速度、海面净空及输入时效，处理求解超时与不可行">
            <a:extLst xmlns:a="http://schemas.openxmlformats.org/drawingml/2006/main">
              <a:ext uri="{FF2B5EF4-FFF2-40B4-BE49-F238E27FC236}">
                <a16:creationId xmlns:a16="http://schemas.microsoft.com/office/drawing/2014/main" id="{6620B212-E39F-4E1E-8772-46295C19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2100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纳入速度、加速度、海面净空及输入时效，处理求解超时与不可行</a:t>
            </a:r>
          </a:p>
        </p:txBody>
      </p:sp>
      <p:sp>
        <p:nvSpPr>
          <p:cNvPr id="10" name="拟议代价：任务误差 + 可见性惩罚 + 控制量与变化量惩罚">
            <a:extLst xmlns:a="http://schemas.openxmlformats.org/drawingml/2006/main">
              <a:ext uri="{FF2B5EF4-FFF2-40B4-BE49-F238E27FC236}">
                <a16:creationId xmlns:a16="http://schemas.microsoft.com/office/drawing/2014/main" id="{DC570E32-6EBB-4837-8B99-5C7F4F07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95925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拟议代价：任务误差 + 可见性惩罚 + 控制量与变化量惩罚</a:t>
            </a:r>
          </a:p>
        </p:txBody>
      </p:sp>
      <p:sp>
        <p:nvSpPr>
          <p:cNvPr id="11" name="当前仍使用 BCTRA / Fast MINCO / 原 t">
            <a:extLst xmlns:a="http://schemas.openxmlformats.org/drawingml/2006/main">
              <a:ext uri="{FF2B5EF4-FFF2-40B4-BE49-F238E27FC236}">
                <a16:creationId xmlns:a16="http://schemas.microsoft.com/office/drawing/2014/main" id="{E43C8157-775A-4E0A-978A-B381DF36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当前仍使用 BCTRA / Fast MINCO / 原 tracker，MPC 尚未实现</a:t>
            </a:r>
          </a:p>
        </p:txBody>
      </p:sp>
    </p:spTree>
    <p:extLst>
      <p:ext uri="{BB962C8B-B14F-4D97-AF65-F5344CB8AC3E}">
        <p14:creationId xmlns:p14="http://schemas.microsoft.com/office/powerpoint/2010/main" val="13354987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PC 开发与验证安排">
            <a:extLst xmlns:a="http://schemas.openxmlformats.org/drawingml/2006/main">
              <a:ext uri="{FF2B5EF4-FFF2-40B4-BE49-F238E27FC236}">
                <a16:creationId xmlns:a16="http://schemas.microsoft.com/office/drawing/2014/main" id="{A16351F7-376A-416D-B601-41D34955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3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0">
                <a:solidFill>
                  <a:srgbClr val="3974B8"/>
                </a:solidFill>
                <a:latin typeface="Noto Sans CJK SC"/>
                <a:ea typeface="Noto Sans CJK SC"/>
                <a:cs typeface="Noto Sans CJK SC"/>
              </a:rPr>
              <a:t>MPC 开发与验证安排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2472E7D4-241F-4D80-BCA9-D9C71B79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30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57200" y="1276350"/>
          <a:ext xmlns:a="http://schemas.openxmlformats.org/drawingml/2006/main" cx="11277600" cy="3352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238625"/>
                <a:gridCol w="4562475"/>
              </a:tblGrid>
              <a:tr h="6705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主要工作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3974B8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阶段验收</a:t>
                      </a:r>
                    </a:p>
                  </a:txBody>
                  <a:tcPr marL="152400" marR="152400" marT="95250" marB="95250" anchor="ctr">
                    <a:solidFill>
                      <a:srgbClr val="EAF1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 模型与接口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定义状态、输入、执行周期和约束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明确时刻口径与失效处理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2. 离线与影子验证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冻结数据回放，求解器选型与对照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核对可行性、求解耗时和超时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3. 在线接入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显式选择 MPC，保留原控制基线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原有安全、时效和恢复行为有效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4. 同条件实验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比较可见性、跟随误差与截获效果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B4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逐项消融，记录安全事件与计算延迟</a:t>
                      </a:r>
                    </a:p>
                  </a:txBody>
                  <a:tcPr marL="152400" marR="1524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开发基础已就绪：独立工作区、冻结配置与原始证据、历史恢复入口">
            <a:extLst xmlns:a="http://schemas.openxmlformats.org/drawingml/2006/main">
              <a:ext uri="{FF2B5EF4-FFF2-40B4-BE49-F238E27FC236}">
                <a16:creationId xmlns:a16="http://schemas.microsoft.com/office/drawing/2014/main" id="{70599F42-FB0A-4C99-A889-2BDBE8B8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1277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72B45"/>
                </a:solidFill>
                <a:latin typeface="Noto Sans CJK SC"/>
                <a:ea typeface="Noto Sans CJK SC"/>
                <a:cs typeface="Noto Sans CJK SC"/>
              </a:rPr>
              <a:t>开发基础已就绪：独立工作区、冻结配置与原始证据、历史恢复入口</a:t>
            </a:r>
          </a:p>
        </p:txBody>
      </p:sp>
      <p:sp>
        <p:nvSpPr>
          <p:cNvPr id="5" name="先用相同场景建立对照，再扩展目标机动、入口条件与扰动">
            <a:extLst xmlns:a="http://schemas.openxmlformats.org/drawingml/2006/main">
              <a:ext uri="{FF2B5EF4-FFF2-40B4-BE49-F238E27FC236}">
                <a16:creationId xmlns:a16="http://schemas.microsoft.com/office/drawing/2014/main" id="{52C34CDD-2759-4137-98DD-6513BC9D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7768A"/>
                </a:solidFill>
                <a:latin typeface="Noto Sans CJK SC"/>
                <a:ea typeface="Noto Sans CJK SC"/>
                <a:cs typeface="Noto Sans CJK SC"/>
              </a:rPr>
              <a:t>先用相同场景建立对照，再扩展目标机动、入口条件与扰动</a:t>
            </a:r>
          </a:p>
        </p:txBody>
      </p:sp>
    </p:spTree>
    <p:extLst>
      <p:ext uri="{BB962C8B-B14F-4D97-AF65-F5344CB8AC3E}">
        <p14:creationId xmlns:p14="http://schemas.microsoft.com/office/powerpoint/2010/main" val="1497184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2026-10-06T08:40:22.1590000Z</dcterms:created>
  <dcterms:modified xsi:type="dcterms:W3CDTF">2026-10-06T08:40:22.1590000Z</dcterms:modified>
</coreProperties>
</file>